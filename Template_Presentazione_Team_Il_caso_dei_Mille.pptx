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6.svg" ContentType="image/svg"/>
  <Override PartName="/ppt/media/image8.svg" ContentType="image/svg"/>
  <Override PartName="/ppt/media/image10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spostare la diapositiva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40DAB4-4A09-4D43-B447-E82050FB91E7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3FC61C6-4720-4DF2-94F7-9651047F272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EC6C13F-512D-4D4E-9112-4040601227E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81E3D28-5DE3-468A-B855-CD79A79E450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25CFC2F-E8C4-4B5E-9B5B-C20292852AA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127166E-2799-4788-AAFB-092CFA0F641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FCFEECF-8CA7-40B7-B719-0C975AE266B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0A20634-3D51-4F2E-B4F7-9F1C6E4921D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 titolo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private/tmp/claude-503/-Users-giuseppesinatra-Documents-GitHub-GenAI-Academy-Notebooks-Blocco2-Hackathon-il-caso-dei-mille/10f5c1c5-15e5-4ef9-b195-a2f4c7e4a030/scratchpad/pptx-team-template/assets/grid-bg.png"/>
          <p:cNvPicPr/>
          <p:nvPr/>
        </p:nvPicPr>
        <p:blipFill>
          <a:blip r:embed="rId1"/>
          <a:srcRect l="0" t="4391" r="0" b="439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777240" y="141732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HACKATHON RAG · DATAPIZZA ACADEMY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777240" y="169164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64336"/>
                </a:solidFill>
                <a:effectLst/>
                <a:uFillTx/>
                <a:latin typeface="Poppins"/>
                <a:ea typeface="Poppins"/>
              </a:rPr>
              <a:t>Il caso dei Mille</a:t>
            </a:r>
            <a:endParaRPr lang="it-I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77240" y="2606040"/>
            <a:ext cx="6857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Presentazione finale del team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77240" y="2971800"/>
            <a:ext cx="3291120" cy="310320"/>
          </a:xfrm>
          <a:prstGeom prst="roundRect">
            <a:avLst>
              <a:gd name="adj" fmla="val 20000"/>
            </a:avLst>
          </a:prstGeom>
          <a:solidFill>
            <a:srgbClr val="F5F7FB"/>
          </a:solidFill>
          <a:ln w="9525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Team Jedi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77240" y="4251960"/>
            <a:ext cx="5942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Round 1  →  Round 2  →  Gold Run   ·   Historical Review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1" descr="/private/tmp/claude-503/-Users-giuseppesinatra-Documents-GitHub-GenAI-Academy-Notebooks-Blocco2-Hackathon-il-caso-dei-mille/10f5c1c5-15e5-4ef9-b195-a2f4c7e4a030/scratchpad/pptx-team-template/assets/logo-icon.png"/>
          <p:cNvPicPr/>
          <p:nvPr/>
        </p:nvPicPr>
        <p:blipFill>
          <a:blip r:embed="rId2"/>
          <a:stretch/>
        </p:blipFill>
        <p:spPr>
          <a:xfrm>
            <a:off x="7498080" y="3291840"/>
            <a:ext cx="2010960" cy="201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Image 2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3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Image 3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4"/>
          <a:stretch/>
        </p:blipFill>
        <p:spPr>
          <a:xfrm>
            <a:off x="777240" y="18288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5"/>
          <p:cNvSpPr/>
          <p:nvPr/>
        </p:nvSpPr>
        <p:spPr>
          <a:xfrm>
            <a:off x="777240" y="4846320"/>
            <a:ext cx="5485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Fonti autentiche, derivate e simulate sono marcate nel manifest.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1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Image 1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2"/>
          <a:stretch/>
        </p:blipFill>
        <p:spPr>
          <a:xfrm>
            <a:off x="774720" y="5076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1905120" y="109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IL CASO DEI MILLE · AGENDA · MAX 10 MINUTI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77240" y="398880"/>
            <a:ext cx="66744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Cosa vedrete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777240" y="1417320"/>
            <a:ext cx="7588800" cy="14166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/>
              </a:gs>
              <a:gs pos="100000">
                <a:srgbClr val="E1EBFE"/>
              </a:gs>
            </a:gsLst>
            <a:lin ang="2700000"/>
          </a:gradFill>
          <a:ln w="12700">
            <a:solidFill>
              <a:srgbClr val="1B64F5">
                <a:alpha val="25000"/>
              </a:srgbClr>
            </a:solidFill>
            <a:round/>
          </a:ln>
          <a:effectLst>
            <a:outerShdw blurRad="165240" dir="5400000" dist="38160" rotWithShape="0">
              <a:srgbClr val="1B64F5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777240" y="1417320"/>
            <a:ext cx="63360" cy="1416600"/>
          </a:xfrm>
          <a:prstGeom prst="rect">
            <a:avLst/>
          </a:prstGeom>
          <a:gradFill rotWithShape="0">
            <a:gsLst>
              <a:gs pos="0">
                <a:srgbClr val="1B64F5"/>
              </a:gs>
              <a:gs pos="100000">
                <a:srgbClr val="63A0FF"/>
              </a:gs>
            </a:gsLst>
            <a:lin ang="5400000"/>
          </a:gradFill>
          <a:ln w="12700">
            <a:solidFill>
              <a:srgbClr val="1B6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adge 1"/>
          <p:cNvSpPr/>
          <p:nvPr/>
        </p:nvSpPr>
        <p:spPr>
          <a:xfrm>
            <a:off x="983160" y="1760400"/>
            <a:ext cx="685080" cy="685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64F5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4"/>
          <p:cNvSpPr/>
          <p:nvPr/>
        </p:nvSpPr>
        <p:spPr>
          <a:xfrm>
            <a:off x="1140120" y="1851120"/>
            <a:ext cx="457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01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737360" y="184140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Pipeline RAG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6807240" y="17146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~5 minuti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1737360" y="2222640"/>
            <a:ext cx="56379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Architettura e motivazioni  ·  problemi affrontati e soluzioni  ·  metodo di evaluation e risultati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77240" y="3035880"/>
            <a:ext cx="7588800" cy="14166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/>
              </a:gs>
              <a:gs pos="100000">
                <a:srgbClr val="FBE3E0"/>
              </a:gs>
            </a:gsLst>
            <a:lin ang="2700000"/>
          </a:gradFill>
          <a:ln w="12700">
            <a:solidFill>
              <a:srgbClr val="D7342B">
                <a:alpha val="25000"/>
              </a:srgbClr>
            </a:solidFill>
            <a:round/>
          </a:ln>
          <a:effectLst>
            <a:outerShdw blurRad="165240" dir="5400000" dist="38160" rotWithShape="0">
              <a:srgbClr val="D7342B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777240" y="3035880"/>
            <a:ext cx="63360" cy="1416600"/>
          </a:xfrm>
          <a:prstGeom prst="rect">
            <a:avLst/>
          </a:prstGeom>
          <a:gradFill rotWithShape="0">
            <a:gsLst>
              <a:gs pos="0">
                <a:srgbClr val="D7342B"/>
              </a:gs>
              <a:gs pos="100000">
                <a:srgbClr val="F0776C"/>
              </a:gs>
            </a:gsLst>
            <a:lin ang="5400000"/>
          </a:gradFill>
          <a:ln w="12700">
            <a:solidFill>
              <a:srgbClr val="D7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adge 2"/>
          <p:cNvSpPr/>
          <p:nvPr/>
        </p:nvSpPr>
        <p:spPr>
          <a:xfrm>
            <a:off x="983160" y="3373200"/>
            <a:ext cx="685080" cy="685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342B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1140120" y="3463920"/>
            <a:ext cx="457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02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1737360" y="346716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Historical Review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6807240" y="33274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max 5 minuti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1737360" y="3848040"/>
            <a:ext cx="66744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La domanda assegnata, la nostra tesi e le fonti che la sostengono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777240" y="4572000"/>
            <a:ext cx="7588800" cy="310320"/>
          </a:xfrm>
          <a:prstGeom prst="roundRect">
            <a:avLst>
              <a:gd name="adj" fmla="val 6000"/>
            </a:avLst>
          </a:prstGeom>
          <a:solidFill>
            <a:srgbClr val="F1F5FD"/>
          </a:solidFill>
          <a:ln w="12700">
            <a:solidFill>
              <a:srgbClr val="1B64F5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777240" y="4572000"/>
            <a:ext cx="63360" cy="310320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969120" y="4572000"/>
            <a:ext cx="7360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La giuria registra la parte storica, la trascrive e la valuta con un giudice LLM (Professore d'Archivio). Il punteggio (fino a 10) si somma allo score della Gold Run.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777240" y="488304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Hackathon RAG · Datapizza Academy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raphic 22" descr="Pipeline flowchart icon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45320" y="2013840"/>
            <a:ext cx="532800" cy="53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raphic 23" descr="Historical review clock icon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645320" y="3632040"/>
            <a:ext cx="532800" cy="53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1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Image 1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2"/>
          <a:stretch/>
        </p:blipFill>
        <p:spPr>
          <a:xfrm>
            <a:off x="774720" y="2556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0"/>
          <p:cNvSpPr/>
          <p:nvPr/>
        </p:nvSpPr>
        <p:spPr>
          <a:xfrm>
            <a:off x="1905120" y="7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PARTE 1 · ARCHITETTURA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77240" y="255960"/>
            <a:ext cx="66744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Da dove siamo partiti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777240" y="1417320"/>
            <a:ext cx="1127160" cy="1005120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 w="12700">
            <a:solidFill>
              <a:srgbClr val="8FB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3"/>
          <p:cNvSpPr/>
          <p:nvPr/>
        </p:nvSpPr>
        <p:spPr>
          <a:xfrm>
            <a:off x="822960" y="1463040"/>
            <a:ext cx="1035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Parsing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822960" y="1960560"/>
            <a:ext cx="103572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Docling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1904760" y="1920240"/>
            <a:ext cx="16452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2069640" y="1417320"/>
            <a:ext cx="1127160" cy="1005120"/>
          </a:xfrm>
          <a:prstGeom prst="roundRect">
            <a:avLst>
              <a:gd name="adj" fmla="val 8000"/>
            </a:avLst>
          </a:prstGeom>
          <a:solidFill>
            <a:srgbClr val="DCE7FF"/>
          </a:solidFill>
          <a:ln w="12700">
            <a:solidFill>
              <a:srgbClr val="8FB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7"/>
          <p:cNvSpPr/>
          <p:nvPr/>
        </p:nvSpPr>
        <p:spPr>
          <a:xfrm>
            <a:off x="2115360" y="1463040"/>
            <a:ext cx="1035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Chunking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2115360" y="1960560"/>
            <a:ext cx="103572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1024 char, overlap 128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3197160" y="1920240"/>
            <a:ext cx="16452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3362040" y="1417320"/>
            <a:ext cx="1127160" cy="1005120"/>
          </a:xfrm>
          <a:prstGeom prst="roundRect">
            <a:avLst>
              <a:gd name="adj" fmla="val 8000"/>
            </a:avLst>
          </a:prstGeom>
          <a:solidFill>
            <a:srgbClr val="CFDFFF"/>
          </a:solidFill>
          <a:ln w="12700">
            <a:solidFill>
              <a:srgbClr val="7FA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3407760" y="1463040"/>
            <a:ext cx="1035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Embedding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3407760" y="1960560"/>
            <a:ext cx="103572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text-embedding-3-small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4489560" y="1920240"/>
            <a:ext cx="16452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4654440" y="1417320"/>
            <a:ext cx="1127160" cy="1005120"/>
          </a:xfrm>
          <a:prstGeom prst="roundRect">
            <a:avLst>
              <a:gd name="adj" fmla="val 8000"/>
            </a:avLst>
          </a:prstGeom>
          <a:solidFill>
            <a:srgbClr val="C2D6FF"/>
          </a:solidFill>
          <a:ln w="12700">
            <a:solidFill>
              <a:srgbClr val="7FA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4700160" y="1463040"/>
            <a:ext cx="1035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Vector store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4700160" y="1960560"/>
            <a:ext cx="103572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Qdrant locale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5781960" y="1920240"/>
            <a:ext cx="16452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5946480" y="1417320"/>
            <a:ext cx="1127160" cy="1005120"/>
          </a:xfrm>
          <a:prstGeom prst="roundRect">
            <a:avLst>
              <a:gd name="adj" fmla="val 8000"/>
            </a:avLst>
          </a:prstGeom>
          <a:solidFill>
            <a:srgbClr val="B5CEFF"/>
          </a:solidFill>
          <a:ln w="12700">
            <a:solidFill>
              <a:srgbClr val="6C9B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5992200" y="1463040"/>
            <a:ext cx="1035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Retrieval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5992200" y="1960560"/>
            <a:ext cx="103572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top-5 denso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7074360" y="1920240"/>
            <a:ext cx="16452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7238880" y="1417320"/>
            <a:ext cx="1127160" cy="1005120"/>
          </a:xfrm>
          <a:prstGeom prst="roundRect">
            <a:avLst>
              <a:gd name="adj" fmla="val 8000"/>
            </a:avLst>
          </a:prstGeom>
          <a:solidFill>
            <a:srgbClr val="1B64F5"/>
          </a:solidFill>
          <a:ln w="12700">
            <a:solidFill>
              <a:srgbClr val="134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7284600" y="1463040"/>
            <a:ext cx="1035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Generation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7284600" y="1960560"/>
            <a:ext cx="103572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CE7FF"/>
                </a:solidFill>
                <a:effectLst/>
                <a:uFillTx/>
                <a:latin typeface="Inter"/>
                <a:ea typeface="Inter"/>
              </a:rPr>
              <a:t>LLM + risposta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777240" y="253296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37373"/>
                </a:solidFill>
                <a:effectLst/>
                <a:uFillTx/>
                <a:latin typeface="Fira Code"/>
                <a:ea typeface="Fira Code"/>
              </a:rPr>
              <a:t>baseline_naive_rag.py — naive dense RAG, Act 1–2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777240" y="288036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Perché siamo partiti da qui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777240" y="3263400"/>
            <a:ext cx="7588800" cy="14166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Cosa ci ha convinto: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- Il parsing con docling in quanto è modulare e facilmente integrabile con soluzioni differenti </a:t>
            </a:r>
            <a:br>
              <a:rPr sz="900"/>
            </a:b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( cosa non realizzata per mancanza di tempo 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Cosa non ci ha convinto: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- OCR attivo su ogni documento, anche su PDF nativi digitali, parser non specifici per lingua italiana.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- Mancanza di parallelizzazione per parser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- max_char sembrava non funzionare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- Soltanto Dense Retrival con top-5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777240" y="488304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Hackathon RAG · Datapizza Academy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1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 1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2"/>
          <a:stretch/>
        </p:blipFill>
        <p:spPr>
          <a:xfrm>
            <a:off x="774720" y="2556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0"/>
          <p:cNvSpPr/>
          <p:nvPr/>
        </p:nvSpPr>
        <p:spPr>
          <a:xfrm>
            <a:off x="1905120" y="7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PARTE 1 · ARCHITETTURA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777240" y="255960"/>
            <a:ext cx="66744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Come si è evoluta, e perché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777240" y="1325880"/>
            <a:ext cx="1157400" cy="730800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 w="9525">
            <a:solidFill>
              <a:srgbClr val="AFC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3"/>
          <p:cNvSpPr/>
          <p:nvPr/>
        </p:nvSpPr>
        <p:spPr>
          <a:xfrm>
            <a:off x="822960" y="1371600"/>
            <a:ext cx="1065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Build Sprint 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822960" y="1720800"/>
            <a:ext cx="1065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Act 1–2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1935360" y="1691640"/>
            <a:ext cx="12780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3720" tIns="-44640" rIns="6372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2063520" y="1325880"/>
            <a:ext cx="1157400" cy="730800"/>
          </a:xfrm>
          <a:prstGeom prst="roundRect">
            <a:avLst>
              <a:gd name="adj" fmla="val 8000"/>
            </a:avLst>
          </a:prstGeom>
          <a:solidFill>
            <a:srgbClr val="DCE7FF"/>
          </a:solidFill>
          <a:ln w="9525">
            <a:solidFill>
              <a:srgbClr val="A5B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7"/>
          <p:cNvSpPr/>
          <p:nvPr/>
        </p:nvSpPr>
        <p:spPr>
          <a:xfrm>
            <a:off x="2109240" y="1371600"/>
            <a:ext cx="1065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Round 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2109240" y="1720800"/>
            <a:ext cx="1065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prima submission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3221640" y="1691640"/>
            <a:ext cx="12780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3720" tIns="-44640" rIns="6372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3349800" y="1325880"/>
            <a:ext cx="1157400" cy="730800"/>
          </a:xfrm>
          <a:prstGeom prst="roundRect">
            <a:avLst>
              <a:gd name="adj" fmla="val 8000"/>
            </a:avLst>
          </a:prstGeom>
          <a:solidFill>
            <a:srgbClr val="CFDFFF"/>
          </a:solidFill>
          <a:ln w="9525">
            <a:solidFill>
              <a:srgbClr val="9AB6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3395520" y="1371600"/>
            <a:ext cx="1065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Apertura Act 3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3395520" y="1720800"/>
            <a:ext cx="1065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mappe, scan, cross-doc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4507920" y="1691640"/>
            <a:ext cx="12780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3720" tIns="-44640" rIns="6372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4636080" y="1325880"/>
            <a:ext cx="1157400" cy="730800"/>
          </a:xfrm>
          <a:prstGeom prst="roundRect">
            <a:avLst>
              <a:gd name="adj" fmla="val 8000"/>
            </a:avLst>
          </a:prstGeom>
          <a:solidFill>
            <a:srgbClr val="C2D6FF"/>
          </a:solidFill>
          <a:ln w="9525">
            <a:solidFill>
              <a:srgbClr val="8FA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4681800" y="1371600"/>
            <a:ext cx="1065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Build Sprint 3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4681800" y="1720800"/>
            <a:ext cx="1065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+ Act 4 · version aw.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5794200" y="1691640"/>
            <a:ext cx="12780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3720" tIns="-44640" rIns="6372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5922360" y="1325880"/>
            <a:ext cx="1157400" cy="730800"/>
          </a:xfrm>
          <a:prstGeom prst="roundRect">
            <a:avLst>
              <a:gd name="adj" fmla="val 8000"/>
            </a:avLst>
          </a:prstGeom>
          <a:solidFill>
            <a:srgbClr val="B5CEFF"/>
          </a:solidFill>
          <a:ln w="9525">
            <a:solidFill>
              <a:srgbClr val="85A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5968080" y="1371600"/>
            <a:ext cx="1065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Round 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5968080" y="1720800"/>
            <a:ext cx="1065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domande più difficili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1"/>
          <p:cNvSpPr/>
          <p:nvPr/>
        </p:nvSpPr>
        <p:spPr>
          <a:xfrm>
            <a:off x="7080480" y="1691640"/>
            <a:ext cx="127800" cy="360"/>
          </a:xfrm>
          <a:prstGeom prst="line">
            <a:avLst/>
          </a:prstGeom>
          <a:ln w="15240">
            <a:solidFill>
              <a:srgbClr val="1B64F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3720" tIns="-44640" rIns="63720" bIns="-4464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7208640" y="1325880"/>
            <a:ext cx="1157400" cy="730800"/>
          </a:xfrm>
          <a:prstGeom prst="roundRect">
            <a:avLst>
              <a:gd name="adj" fmla="val 8000"/>
            </a:avLst>
          </a:prstGeom>
          <a:solidFill>
            <a:srgbClr val="1B64F5"/>
          </a:solidFill>
          <a:ln w="12700">
            <a:solidFill>
              <a:srgbClr val="0F3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7254360" y="1371600"/>
            <a:ext cx="1065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Gold Run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4"/>
          <p:cNvSpPr/>
          <p:nvPr/>
        </p:nvSpPr>
        <p:spPr>
          <a:xfrm>
            <a:off x="7254360" y="1720800"/>
            <a:ext cx="1065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3EBFF"/>
                </a:solidFill>
                <a:effectLst/>
                <a:uFillTx/>
                <a:latin typeface="Inter"/>
                <a:ea typeface="Inter"/>
              </a:rPr>
              <a:t>one-shot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5"/>
          <p:cNvSpPr/>
          <p:nvPr/>
        </p:nvSpPr>
        <p:spPr>
          <a:xfrm>
            <a:off x="777240" y="2331720"/>
            <a:ext cx="3748320" cy="155376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10160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26"/>
          <p:cNvSpPr/>
          <p:nvPr/>
        </p:nvSpPr>
        <p:spPr>
          <a:xfrm>
            <a:off x="777240" y="2331720"/>
            <a:ext cx="3748320" cy="310320"/>
          </a:xfrm>
          <a:prstGeom prst="rect">
            <a:avLst/>
          </a:prstGeom>
          <a:solidFill>
            <a:srgbClr val="5B6472"/>
          </a:solidFill>
          <a:ln w="12700">
            <a:solidFill>
              <a:srgbClr val="5B64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887040" y="2331720"/>
            <a:ext cx="35654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Prima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4800600" y="2331720"/>
            <a:ext cx="3748320" cy="155376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10160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29"/>
          <p:cNvSpPr/>
          <p:nvPr/>
        </p:nvSpPr>
        <p:spPr>
          <a:xfrm>
            <a:off x="4800600" y="2331720"/>
            <a:ext cx="3748320" cy="310320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30"/>
          <p:cNvSpPr/>
          <p:nvPr/>
        </p:nvSpPr>
        <p:spPr>
          <a:xfrm>
            <a:off x="4910400" y="2331720"/>
            <a:ext cx="35654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Dopo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1"/>
          <p:cNvSpPr/>
          <p:nvPr/>
        </p:nvSpPr>
        <p:spPr>
          <a:xfrm>
            <a:off x="868680" y="2734200"/>
            <a:ext cx="3565440" cy="10598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9525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Chunking a lunghezza fissa dichiarata ma mai applicata · OCR forzato su tutti i documenti senza tener conto di lingua o usando strumenti più adatti · retrieval solo denso, top-5 fisso · nessuna informazione sull'affidabilità della fonte nel prompt. Assenza di Scorer e Golden Run complete. 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2"/>
          <p:cNvSpPr/>
          <p:nvPr/>
        </p:nvSpPr>
        <p:spPr>
          <a:xfrm>
            <a:off x="4892040" y="2734200"/>
            <a:ext cx="3565440" cy="10598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9525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Mapping per L’OCR per scansionare correttamente I documenti nativi digitali/scanned, parallelizzazione multithread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Chunking SizedSplitter più scarto dei frammenti e deduplicazione.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Retrival da solo dense a hybrid bm25 con RRF.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Document context al posto del solo chunk di vittoria si passa la finestra o tutto il documento per dare più contesto al generatore.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3"/>
          <p:cNvSpPr/>
          <p:nvPr/>
        </p:nvSpPr>
        <p:spPr>
          <a:xfrm>
            <a:off x="777240" y="4014360"/>
            <a:ext cx="7588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Spunti dalla baseline: </a:t>
            </a:r>
            <a:r>
              <a:rPr lang="en-US" sz="95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hybrid search, rerank, query rewrite, chunking semantico, OCR/mappe, version awareness, abstention, costi/latency.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4"/>
          <p:cNvSpPr/>
          <p:nvPr/>
        </p:nvSpPr>
        <p:spPr>
          <a:xfrm>
            <a:off x="777240" y="488304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Hackathon RAG · Datapizza Academy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age 0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1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Image 1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2"/>
          <a:stretch/>
        </p:blipFill>
        <p:spPr>
          <a:xfrm>
            <a:off x="774720" y="2556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0"/>
          <p:cNvSpPr/>
          <p:nvPr/>
        </p:nvSpPr>
        <p:spPr>
          <a:xfrm>
            <a:off x="1905120" y="7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PARTE 1 · PROBLEMI E SOLUZIONI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777240" y="255960"/>
            <a:ext cx="66744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Cosa non ha funzionato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Table 0"/>
          <p:cNvGraphicFramePr/>
          <p:nvPr/>
        </p:nvGraphicFramePr>
        <p:xfrm>
          <a:off x="777240" y="1417320"/>
          <a:ext cx="7570800" cy="3082680"/>
        </p:xfrm>
        <a:graphic>
          <a:graphicData uri="http://schemas.openxmlformats.org/drawingml/2006/table">
            <a:tbl>
              <a:tblPr/>
              <a:tblGrid>
                <a:gridCol w="3246120"/>
                <a:gridCol w="1874520"/>
                <a:gridCol w="2450520"/>
              </a:tblGrid>
              <a:tr h="457560">
                <a:tc>
                  <a:txBody>
                    <a:bodyPr lIns="101520" tIns="75960" rIns="10152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Problema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B64F5"/>
                    </a:solidFill>
                  </a:tcPr>
                </a:tc>
                <a:tc>
                  <a:txBody>
                    <a:bodyPr lIns="101520" tIns="75960" rIns="10152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Quando l'abbiamo notato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B64F5"/>
                    </a:solidFill>
                  </a:tcPr>
                </a:tc>
                <a:tc>
                  <a:txBody>
                    <a:bodyPr lIns="101520" tIns="75960" rIns="10152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Soluzione</a:t>
                      </a:r>
                      <a:endParaRPr lang="it-IT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B64F5"/>
                    </a:solidFill>
                  </a:tcPr>
                </a:tc>
              </a:tr>
              <a:tr h="824400"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11F2D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Esempio — le scansioni garib_* arrivavano come OCR rumoroso: il retrieval le trattava come testo pulito e le ignorava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E1E7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11F2D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Round 1, error analysis sul feedback pack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E1E7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11F2D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Parsing dedicato per le pagine scansionate (Docling + descrizione del contenuto) prima del chunking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E1E7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240"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Il limite di lunghezza dei chunk non funzionava 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6480">
                      <a:solidFill>
                        <a:srgbClr val="E1E7F5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Round 1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6480">
                      <a:solidFill>
                        <a:srgbClr val="E1E7F5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SizedSplitter che ritaglia le eccedenze. 143 → 174 chunk, MRR 0,810 → 0,886 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6480">
                      <a:solidFill>
                        <a:srgbClr val="E1E7F5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687240"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Ingestion iniziale durata 37 min ( worst case )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Modello gpt-5.4-nano andato in overthinking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Round 1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Round 2 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Processing MultiThread e guadangno del 30% di tempo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i="1" u="none" strike="noStrike">
                          <a:solidFill>
                            <a:srgbClr val="737373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Sostituito con gpt-5.6</a:t>
                      </a:r>
                      <a:endParaRPr lang="it-IT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lIns="101520" tIns="75960" rIns="101520" bIns="7596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75960" rIns="101520" bIns="7596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1520" marR="10152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1E7F5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7" name="Text 2"/>
          <p:cNvSpPr/>
          <p:nvPr/>
        </p:nvSpPr>
        <p:spPr>
          <a:xfrm>
            <a:off x="777240" y="488304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Hackathon RAG · Datapizza Academy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0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1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 1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2"/>
          <a:stretch/>
        </p:blipFill>
        <p:spPr>
          <a:xfrm>
            <a:off x="774720" y="2556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0"/>
          <p:cNvSpPr/>
          <p:nvPr/>
        </p:nvSpPr>
        <p:spPr>
          <a:xfrm>
            <a:off x="1905120" y="7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D7342B"/>
                </a:solidFill>
                <a:effectLst/>
                <a:uFillTx/>
                <a:latin typeface="Poppins"/>
                <a:ea typeface="Poppins"/>
              </a:rPr>
              <a:t>PARTE 2 · HISTORICAL REVIEW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777240" y="255960"/>
            <a:ext cx="66744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64F5"/>
                </a:solidFill>
                <a:effectLst/>
                <a:uFillTx/>
                <a:latin typeface="Poppins"/>
                <a:ea typeface="Poppins"/>
              </a:rPr>
              <a:t>La nostra domanda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777240" y="969120"/>
            <a:ext cx="7771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max 5 minuti — libera da qui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777240" y="1417320"/>
            <a:ext cx="7588800" cy="566280"/>
          </a:xfrm>
          <a:prstGeom prst="roundRect">
            <a:avLst>
              <a:gd name="adj" fmla="val 4000"/>
            </a:avLst>
          </a:prstGeom>
          <a:gradFill rotWithShape="0">
            <a:gsLst>
              <a:gs pos="0">
                <a:srgbClr val="FBE7E4"/>
              </a:gs>
              <a:gs pos="60000">
                <a:srgbClr val="FFFFFF"/>
              </a:gs>
              <a:gs pos="100000">
                <a:srgbClr val="FFFFFF"/>
              </a:gs>
            </a:gsLst>
            <a:lin ang="0"/>
          </a:gradFill>
          <a:ln w="6350">
            <a:noFill/>
          </a:ln>
          <a:effectLst>
            <a:outerShdw blurRad="152280" dir="5400000" dist="38160" rotWithShape="0">
              <a:srgbClr val="D7342B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777240" y="1417320"/>
            <a:ext cx="63360" cy="566280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996840" y="1417320"/>
            <a:ext cx="73144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« Quanto è attendibile una testimonianza retrospettiva rispetto ai documenti contemporanei?»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14884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La nostra tesi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777240" y="2423160"/>
            <a:ext cx="7588800" cy="1005120"/>
          </a:xfrm>
          <a:prstGeom prst="roundRect">
            <a:avLst>
              <a:gd name="adj" fmla="val 3000"/>
            </a:avLst>
          </a:prstGeom>
          <a:gradFill rotWithShape="0">
            <a:gsLst>
              <a:gs pos="0">
                <a:srgbClr val="FFFFFF"/>
              </a:gs>
              <a:gs pos="100000">
                <a:srgbClr val="EAF0FD"/>
              </a:gs>
            </a:gsLst>
            <a:lin ang="2700000"/>
          </a:gradFill>
          <a:ln w="9525">
            <a:solidFill>
              <a:srgbClr val="C9D8F5"/>
            </a:solidFill>
            <a:round/>
          </a:ln>
          <a:effectLst>
            <a:outerShdw blurRad="165240" dir="5400000" dist="38160" rotWithShape="0">
              <a:srgbClr val="1B64F5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Una testimonianza retrospettiva è meno attendibile se tardiva, priva di riscontri e contraddetta da fonti contemporanee.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br>
              <a:rPr sz="700"/>
            </a:br>
            <a:r>
              <a:rPr lang="en-US" sz="7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A sostegno: Testimonianza Capitano Lanza, che dichiara di non avere documenti. Doessier Introduttivo 01, nota comitato palermo e lettera allusiva donnafugata.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Non affermabili: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L. la dà per certa, mentre il dispaccio consolare contemporaneo la nega. 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La nota palermo esplicita che possono essere accaduti I fatti ma non ci sono prove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Assenza di prova è diverso di prova dell’assenza</a:t>
            </a:r>
            <a:endParaRPr lang="it-IT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1066680" y="3566160"/>
            <a:ext cx="5485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F2D"/>
                </a:solidFill>
                <a:effectLst/>
                <a:uFillTx/>
                <a:latin typeface="Poppins"/>
                <a:ea typeface="Poppins"/>
              </a:rPr>
              <a:t>Cosa valuta la giuria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777240" y="3822120"/>
            <a:ext cx="1793880" cy="56628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FFFFFF"/>
              </a:gs>
              <a:gs pos="100000">
                <a:srgbClr val="F1F4FB"/>
              </a:gs>
            </a:gsLst>
            <a:lin ang="5400000"/>
          </a:gradFill>
          <a:ln w="10160">
            <a:solidFill>
              <a:srgbClr val="E1E7F5"/>
            </a:solidFill>
            <a:round/>
          </a:ln>
          <a:effectLst>
            <a:outerShdw blurRad="127080" dir="5400000" dist="31680" rotWithShape="0">
              <a:srgbClr val="111F2D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777240" y="3822120"/>
            <a:ext cx="1793880" cy="63360"/>
          </a:xfrm>
          <a:prstGeom prst="roundRect">
            <a:avLst>
              <a:gd name="adj" fmla="val 20000"/>
            </a:avLst>
          </a:prstGeom>
          <a:gradFill rotWithShape="0">
            <a:gsLst>
              <a:gs pos="0">
                <a:srgbClr val="D7342B"/>
              </a:gs>
              <a:gs pos="100000">
                <a:srgbClr val="F0776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850320" y="3913560"/>
            <a:ext cx="1647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Uso verificabile delle fonti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2709000" y="3822120"/>
            <a:ext cx="1793880" cy="56628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FFFFFF"/>
              </a:gs>
              <a:gs pos="100000">
                <a:srgbClr val="F1F4FB"/>
              </a:gs>
            </a:gsLst>
            <a:lin ang="5400000"/>
          </a:gradFill>
          <a:ln w="10160">
            <a:solidFill>
              <a:srgbClr val="E1E7F5"/>
            </a:solidFill>
            <a:round/>
          </a:ln>
          <a:effectLst>
            <a:outerShdw blurRad="127080" dir="5400000" dist="31680" rotWithShape="0">
              <a:srgbClr val="111F2D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2709000" y="3822120"/>
            <a:ext cx="1793880" cy="63360"/>
          </a:xfrm>
          <a:prstGeom prst="roundRect">
            <a:avLst>
              <a:gd name="adj" fmla="val 20000"/>
            </a:avLst>
          </a:prstGeom>
          <a:gradFill rotWithShape="0">
            <a:gsLst>
              <a:gs pos="0">
                <a:srgbClr val="D7342B"/>
              </a:gs>
              <a:gs pos="100000">
                <a:srgbClr val="F0776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2782080" y="3913560"/>
            <a:ext cx="1647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Cautela storica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4640760" y="3822120"/>
            <a:ext cx="1793880" cy="56628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FFFFFF"/>
              </a:gs>
              <a:gs pos="100000">
                <a:srgbClr val="F1F4FB"/>
              </a:gs>
            </a:gsLst>
            <a:lin ang="5400000"/>
          </a:gradFill>
          <a:ln w="10160">
            <a:solidFill>
              <a:srgbClr val="E1E7F5"/>
            </a:solidFill>
            <a:round/>
          </a:ln>
          <a:effectLst>
            <a:outerShdw blurRad="127080" dir="5400000" dist="31680" rotWithShape="0">
              <a:srgbClr val="111F2D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4640760" y="3822120"/>
            <a:ext cx="1793880" cy="63360"/>
          </a:xfrm>
          <a:prstGeom prst="roundRect">
            <a:avLst>
              <a:gd name="adj" fmla="val 20000"/>
            </a:avLst>
          </a:prstGeom>
          <a:gradFill rotWithShape="0">
            <a:gsLst>
              <a:gs pos="0">
                <a:srgbClr val="D7342B"/>
              </a:gs>
              <a:gs pos="100000">
                <a:srgbClr val="F0776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4713840" y="3913560"/>
            <a:ext cx="1647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Sintesi critica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6572160" y="3822120"/>
            <a:ext cx="1793880" cy="56628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FFFFFF"/>
              </a:gs>
              <a:gs pos="100000">
                <a:srgbClr val="F1F4FB"/>
              </a:gs>
            </a:gsLst>
            <a:lin ang="5400000"/>
          </a:gradFill>
          <a:ln w="10160">
            <a:solidFill>
              <a:srgbClr val="E1E7F5"/>
            </a:solidFill>
            <a:round/>
          </a:ln>
          <a:effectLst>
            <a:outerShdw blurRad="127080" dir="5400000" dist="31680" rotWithShape="0">
              <a:srgbClr val="111F2D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6572160" y="3822120"/>
            <a:ext cx="1793880" cy="63360"/>
          </a:xfrm>
          <a:prstGeom prst="roundRect">
            <a:avLst>
              <a:gd name="adj" fmla="val 20000"/>
            </a:avLst>
          </a:prstGeom>
          <a:gradFill rotWithShape="0">
            <a:gsLst>
              <a:gs pos="0">
                <a:srgbClr val="D7342B"/>
              </a:gs>
              <a:gs pos="100000">
                <a:srgbClr val="F0776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6645240" y="3913560"/>
            <a:ext cx="1647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Riflessione sui limiti della pipeline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777240" y="4553640"/>
            <a:ext cx="7588800" cy="310320"/>
          </a:xfrm>
          <a:prstGeom prst="roundRect">
            <a:avLst>
              <a:gd name="adj" fmla="val 6000"/>
            </a:avLst>
          </a:prstGeom>
          <a:solidFill>
            <a:srgbClr val="FBF3F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777240" y="4553640"/>
            <a:ext cx="63360" cy="310320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23"/>
          <p:cNvSpPr/>
          <p:nvPr/>
        </p:nvSpPr>
        <p:spPr>
          <a:xfrm>
            <a:off x="969120" y="4553640"/>
            <a:ext cx="7360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Non premia stile o sicurezza retorica: penalizza tesi più forti delle prove, citazioni ornamentali e conoscenza esterna non ricondotta all'archivio.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4"/>
          <p:cNvSpPr/>
          <p:nvPr/>
        </p:nvSpPr>
        <p:spPr>
          <a:xfrm>
            <a:off x="777240" y="488304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Hackathon RAG · Datapizza Academy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Graphic 29" descr="Scales of justice icon for jury criteria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74720" y="3556080"/>
            <a:ext cx="227880" cy="22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0" descr="/private/tmp/claude-503/-Users-giuseppesinatra-Documents-GitHub-GenAI-Academy-Notebooks-Blocco2-Hackathon-il-caso-dei-mille/10f5c1c5-15e5-4ef9-b195-a2f4c7e4a030/scratchpad/pptx-team-template/assets/grid-bg.png"/>
          <p:cNvPicPr/>
          <p:nvPr/>
        </p:nvPicPr>
        <p:blipFill>
          <a:blip r:embed="rId1"/>
          <a:srcRect l="0" t="4391" r="0" b="439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0"/>
          <p:cNvSpPr/>
          <p:nvPr/>
        </p:nvSpPr>
        <p:spPr>
          <a:xfrm>
            <a:off x="777240" y="1965960"/>
            <a:ext cx="6400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64336"/>
                </a:solidFill>
                <a:effectLst/>
                <a:uFillTx/>
                <a:latin typeface="Poppins"/>
                <a:ea typeface="Poppins"/>
              </a:rPr>
              <a:t>Grazie</a:t>
            </a:r>
            <a:endParaRPr lang="it-I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777240" y="2880360"/>
            <a:ext cx="4114080" cy="310320"/>
          </a:xfrm>
          <a:prstGeom prst="roundRect">
            <a:avLst>
              <a:gd name="adj" fmla="val 20000"/>
            </a:avLst>
          </a:prstGeom>
          <a:solidFill>
            <a:srgbClr val="F5F7FB"/>
          </a:solidFill>
          <a:ln w="9525">
            <a:solidFill>
              <a:srgbClr val="E1E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F2D"/>
                </a:solidFill>
                <a:effectLst/>
                <a:uFillTx/>
                <a:latin typeface="Inter"/>
                <a:ea typeface="Inter"/>
              </a:rPr>
              <a:t>Team Jedi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777240" y="3273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37373"/>
                </a:solidFill>
                <a:effectLst/>
                <a:uFillTx/>
                <a:latin typeface="Inter"/>
                <a:ea typeface="Inter"/>
              </a:rPr>
              <a:t>Domande?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1" descr="/private/tmp/claude-503/-Users-giuseppesinatra-Documents-GitHub-GenAI-Academy-Notebooks-Blocco2-Hackathon-il-caso-dei-mille/10f5c1c5-15e5-4ef9-b195-a2f4c7e4a030/scratchpad/pptx-team-template/assets/logo-datapizza.png"/>
          <p:cNvPicPr/>
          <p:nvPr/>
        </p:nvPicPr>
        <p:blipFill>
          <a:blip r:embed="rId2"/>
          <a:stretch/>
        </p:blipFill>
        <p:spPr>
          <a:xfrm>
            <a:off x="7738920" y="182880"/>
            <a:ext cx="843480" cy="25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Image 2" descr="/private/tmp/claude-503/-Users-giuseppesinatra-Documents-GitHub-GenAI-Academy-Notebooks-Blocco2-Hackathon-il-caso-dei-mille/10f5c1c5-15e5-4ef9-b195-a2f4c7e4a030/scratchpad/pptx-team-template/assets/aitho-logo-horizontal.png"/>
          <p:cNvPicPr/>
          <p:nvPr/>
        </p:nvPicPr>
        <p:blipFill>
          <a:blip r:embed="rId3"/>
          <a:stretch/>
        </p:blipFill>
        <p:spPr>
          <a:xfrm>
            <a:off x="777240" y="182880"/>
            <a:ext cx="959400" cy="2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3"/>
          <p:cNvSpPr/>
          <p:nvPr/>
        </p:nvSpPr>
        <p:spPr>
          <a:xfrm>
            <a:off x="777240" y="4846320"/>
            <a:ext cx="5485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AAAA"/>
                </a:solidFill>
                <a:effectLst/>
                <a:uFillTx/>
                <a:latin typeface="Inter"/>
                <a:ea typeface="Inter"/>
              </a:rPr>
              <a:t>Hackathon RAG · Datapizza Academy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Application>LibreOffice/26.2.5.2$Windows_X86_64 LibreOffice_project/cd7284b4cbbfeb507e630c1aac019f4157393acb</Application>
  <AppVersion>15.0000</AppVersion>
  <Words>555</Words>
  <Paragraphs>95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2026-08-24T13:36:06Z</dcterms:created>
  <dc:creator>Datapizza Academy</dc:creator>
  <dc:description/>
  <dc:language>it-IT</dc:language>
  <cp:lastModifiedBy/>
  <dcterms:modified xsi:type="dcterms:W3CDTF">2026-08-28T16:55:26Z</dcterms:modified>
  <cp:revision>6</cp:revision>
  <dc:subject>PptxGenJS Presentation</dc:subject>
  <dc:title>Il caso dei Mille — Template presentazione team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